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2" r:id="rId5"/>
    <p:sldId id="259" r:id="rId6"/>
    <p:sldId id="260" r:id="rId7"/>
    <p:sldId id="263" r:id="rId8"/>
    <p:sldId id="261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13E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6213E"/>
                </a:solidFill>
                <a:latin typeface="Arial"/>
              </a:rPr>
              <a:t>Shipping Cost by Method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Shipping Cost ($M)</c:v>
                </c:pt>
              </c:strCache>
            </c:strRef>
          </c:tx>
          <c:spPr>
            <a:solidFill>
              <a:srgbClr val="16213E"/>
            </a:solidFill>
            <a:effectLst/>
          </c:spPr>
          <c:invertIfNegative val="0"/>
          <c:dLbls>
            <c:numFmt formatCode="&quot;$&quot;0.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13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Baseline
(no reassignment)</c:v>
                </c:pt>
                <c:pt idx="1">
                  <c:v>Greedy
Reassignment</c:v>
                </c:pt>
                <c:pt idx="2">
                  <c:v>OR-Tools
Reassignment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61.35</c:v>
                </c:pt>
                <c:pt idx="1">
                  <c:v>61.67</c:v>
                </c:pt>
                <c:pt idx="2">
                  <c:v>53.81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80-4971-B206-B0D013BC40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132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57200"/>
            <a:ext cx="2194560" cy="2194560"/>
          </a:xfrm>
          <a:prstGeom prst="ellipse">
            <a:avLst/>
          </a:prstGeom>
          <a:ln w="19050">
            <a:solidFill>
              <a:srgbClr val="F2A9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95560" y="960120"/>
            <a:ext cx="1188720" cy="1188720"/>
          </a:xfrm>
          <a:prstGeom prst="ellipse">
            <a:avLst/>
          </a:prstGeom>
          <a:ln w="12700">
            <a:solidFill>
              <a:srgbClr val="E8EE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1371600"/>
            <a:ext cx="365760" cy="3657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DISTRIBUTED ORDER MANAGEMENT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Classical + Quantum Optimization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Redirecting orders across plants for measurable revenue and shipping-cost gains — benchmarked against a real quantum implementation.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2926080" cy="0"/>
          </a:xfrm>
          <a:prstGeom prst="line">
            <a:avLst/>
          </a:prstGeom>
          <a:noFill/>
          <a:ln w="12700">
            <a:solidFill>
              <a:srgbClr val="2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074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WISER Global Quantum+AI Program 2026 — Nestlé Challenge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plant can't fully serve an order today, it's simply rejected — even if another plant carries the same product with stock to spare.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457200" cy="457200"/>
          </a:xfrm>
          <a:prstGeom prst="ellipse">
            <a:avLst/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0299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order/plant pairing is a decision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40487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plant inventory couples decisions together — accepting one order can block another.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32644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of SKUs sit at multiple plants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63931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redirection is possible for the large majority of the order book, not an edge case.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457200" cy="457200"/>
          </a:xfrm>
          <a:prstGeom prst="ellipse">
            <a:avLst/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44988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method is assumed best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87375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Classical, heuristic, and quantum approaches are benchmarked against each other, not asserted.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35240" y="1051560"/>
            <a:ext cx="3977640" cy="507492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17" name="Text 15"/>
          <p:cNvSpPr/>
          <p:nvPr/>
        </p:nvSpPr>
        <p:spPr>
          <a:xfrm>
            <a:off x="800100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25,193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001000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order-lines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00100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01000" y="3886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00100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SKUs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0100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8001000" y="5760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SKUs carried at 2+ plants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strategies, benchmarked on identical objective functions and feasibility checks — never compared out of scope.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20440" cy="329184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03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assignment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redirection — each order tries only its own recorded plant. The reference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520440" cy="329184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2103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17720" y="24231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Greedy + OR-Tools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17720" y="31089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heuristic, and an exact CP-SAT solver reassigning orders to any real candidate plant.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874520"/>
            <a:ext cx="3520440" cy="3291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2103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24231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QAOA (Qiskit)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412480" y="31089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assignment problem as a QUBO, solved on a real (small) batch and checked for feasibility.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5595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matched-scale comparisons: reassignment (Baseline/Greedy/OR-Tools) across the FULL 25,193-order dataset, and quantum (Exact/Greedy/QAOA) on one small real batch all three can solve.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Title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Hybrid Optimization Solution</a:t>
            </a:r>
            <a:endParaRPr lang="en-US" sz="2800" dirty="0"/>
          </a:p>
        </p:txBody>
      </p:sp>
      <p:sp>
        <p:nvSpPr>
          <p:cNvPr id="3" name="Text Subtitle"/>
          <p:cNvSpPr/>
          <p:nvPr/>
        </p:nvSpPr>
        <p:spPr>
          <a:xfrm>
            <a:off x="548640" y="990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orders to plant assignments — classical and quantum optimization feeding one recommendation, surfaced through a live dashboard and AI assistant.</a:t>
            </a:r>
            <a:endParaRPr lang="en-US" sz="1350" dirty="0"/>
          </a:p>
        </p:txBody>
      </p:sp>
      <p:sp>
        <p:nvSpPr>
          <p:cNvPr id="4" name="FlowBox4"/>
          <p:cNvSpPr/>
          <p:nvPr/>
        </p:nvSpPr>
        <p:spPr>
          <a:xfrm>
            <a:off x="698640" y="1531620"/>
            <a:ext cx="4400000" cy="438912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FlowText5"/>
          <p:cNvSpPr/>
          <p:nvPr/>
        </p:nvSpPr>
        <p:spPr>
          <a:xfrm>
            <a:off x="790080" y="1531620"/>
            <a:ext cx="4217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Orders</a:t>
            </a:r>
            <a:endParaRPr lang="en-US" sz="1500" dirty="0"/>
          </a:p>
        </p:txBody>
      </p:sp>
      <p:sp>
        <p:nvSpPr>
          <p:cNvPr id="6" name="Arrow6"/>
          <p:cNvSpPr/>
          <p:nvPr/>
        </p:nvSpPr>
        <p:spPr>
          <a:xfrm>
            <a:off x="698640" y="1970532"/>
            <a:ext cx="4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7" name="FlowBox7"/>
          <p:cNvSpPr/>
          <p:nvPr/>
        </p:nvSpPr>
        <p:spPr>
          <a:xfrm>
            <a:off x="698640" y="2153412"/>
            <a:ext cx="4400000" cy="5486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FlowText8"/>
          <p:cNvSpPr/>
          <p:nvPr/>
        </p:nvSpPr>
        <p:spPr>
          <a:xfrm>
            <a:off x="790080" y="2153412"/>
            <a:ext cx="421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Processing</a:t>
            </a:r>
            <a:endParaRPr lang="en-US" sz="13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 Cleaning &amp; Validation)</a:t>
            </a:r>
            <a:endParaRPr lang="en-US" sz="1050" dirty="0"/>
          </a:p>
        </p:txBody>
      </p:sp>
      <p:sp>
        <p:nvSpPr>
          <p:cNvPr id="9" name="Arrow9"/>
          <p:cNvSpPr/>
          <p:nvPr/>
        </p:nvSpPr>
        <p:spPr>
          <a:xfrm>
            <a:off x="698640" y="2702052"/>
            <a:ext cx="4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0" name="ClassicalBox"/>
          <p:cNvSpPr/>
          <p:nvPr/>
        </p:nvSpPr>
        <p:spPr>
          <a:xfrm>
            <a:off x="698640" y="2884932"/>
            <a:ext cx="2000000" cy="6400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ClassicalText"/>
          <p:cNvSpPr/>
          <p:nvPr/>
        </p:nvSpPr>
        <p:spPr>
          <a:xfrm>
            <a:off x="744360" y="2884932"/>
            <a:ext cx="190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Optimization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 OR-Tools)</a:t>
            </a:r>
            <a:endParaRPr lang="en-US" sz="950" dirty="0"/>
          </a:p>
        </p:txBody>
      </p:sp>
      <p:sp>
        <p:nvSpPr>
          <p:cNvPr id="12" name="PlusSign"/>
          <p:cNvSpPr/>
          <p:nvPr/>
        </p:nvSpPr>
        <p:spPr>
          <a:xfrm>
            <a:off x="2698640" y="2884932"/>
            <a:ext cx="4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QuantumBox"/>
          <p:cNvSpPr/>
          <p:nvPr/>
        </p:nvSpPr>
        <p:spPr>
          <a:xfrm>
            <a:off x="3098640" y="2884932"/>
            <a:ext cx="2000000" cy="6400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QuantumText"/>
          <p:cNvSpPr/>
          <p:nvPr/>
        </p:nvSpPr>
        <p:spPr>
          <a:xfrm>
            <a:off x="3144360" y="2884932"/>
            <a:ext cx="190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 Optimization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(QAOA using Qiskit)</a:t>
            </a:r>
            <a:endParaRPr lang="en-US" sz="950" dirty="0"/>
          </a:p>
        </p:txBody>
      </p:sp>
      <p:sp>
        <p:nvSpPr>
          <p:cNvPr id="15" name="Arrow15"/>
          <p:cNvSpPr/>
          <p:nvPr/>
        </p:nvSpPr>
        <p:spPr>
          <a:xfrm>
            <a:off x="698640" y="3525012"/>
            <a:ext cx="4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6" name="FlowBox16"/>
          <p:cNvSpPr/>
          <p:nvPr/>
        </p:nvSpPr>
        <p:spPr>
          <a:xfrm>
            <a:off x="698640" y="3707892"/>
            <a:ext cx="4400000" cy="438912"/>
          </a:xfrm>
          <a:prstGeom prst="roundRect">
            <a:avLst>
              <a:gd name="adj" fmla="val 8000"/>
            </a:avLst>
          </a:prstGeom>
          <a:solidFill>
            <a:srgbClr val="F2A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FlowText17"/>
          <p:cNvSpPr/>
          <p:nvPr/>
        </p:nvSpPr>
        <p:spPr>
          <a:xfrm>
            <a:off x="790080" y="3707892"/>
            <a:ext cx="4217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Warehouse Assignment</a:t>
            </a:r>
            <a:endParaRPr lang="en-US" sz="1350" dirty="0"/>
          </a:p>
        </p:txBody>
      </p:sp>
      <p:sp>
        <p:nvSpPr>
          <p:cNvPr id="18" name="Arrow18"/>
          <p:cNvSpPr/>
          <p:nvPr/>
        </p:nvSpPr>
        <p:spPr>
          <a:xfrm>
            <a:off x="698640" y="4146804"/>
            <a:ext cx="4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9" name="FlowBox19"/>
          <p:cNvSpPr/>
          <p:nvPr/>
        </p:nvSpPr>
        <p:spPr>
          <a:xfrm>
            <a:off x="698640" y="4329684"/>
            <a:ext cx="4400000" cy="438912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FlowText20"/>
          <p:cNvSpPr/>
          <p:nvPr/>
        </p:nvSpPr>
        <p:spPr>
          <a:xfrm>
            <a:off x="790080" y="4329684"/>
            <a:ext cx="4217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Streamlit Dashboard</a:t>
            </a:r>
            <a:endParaRPr lang="en-US" sz="1350" dirty="0"/>
          </a:p>
        </p:txBody>
      </p:sp>
      <p:sp>
        <p:nvSpPr>
          <p:cNvPr id="21" name="Arrow21"/>
          <p:cNvSpPr/>
          <p:nvPr/>
        </p:nvSpPr>
        <p:spPr>
          <a:xfrm>
            <a:off x="698640" y="4768596"/>
            <a:ext cx="4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22" name="FlowBox22"/>
          <p:cNvSpPr/>
          <p:nvPr/>
        </p:nvSpPr>
        <p:spPr>
          <a:xfrm>
            <a:off x="698640" y="4951476"/>
            <a:ext cx="4400000" cy="438912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FlowText23"/>
          <p:cNvSpPr/>
          <p:nvPr/>
        </p:nvSpPr>
        <p:spPr>
          <a:xfrm>
            <a:off x="790080" y="4951476"/>
            <a:ext cx="4217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Qora AI Assistant</a:t>
            </a:r>
            <a:endParaRPr lang="en-US" sz="1350" dirty="0"/>
          </a:p>
        </p:txBody>
      </p:sp>
      <p:sp>
        <p:nvSpPr>
          <p:cNvPr id="24" name="BenefitsHeader"/>
          <p:cNvSpPr/>
          <p:nvPr/>
        </p:nvSpPr>
        <p:spPr>
          <a:xfrm>
            <a:off x="6400800" y="1531620"/>
            <a:ext cx="5143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BENEFITS</a:t>
            </a:r>
            <a:endParaRPr lang="en-US" sz="1300" dirty="0"/>
          </a:p>
        </p:txBody>
      </p:sp>
      <p:sp>
        <p:nvSpPr>
          <p:cNvPr id="25" name="Dot25"/>
          <p:cNvSpPr/>
          <p:nvPr/>
        </p:nvSpPr>
        <p:spPr>
          <a:xfrm>
            <a:off x="6400800" y="2286000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6" name="BenefitText26"/>
          <p:cNvSpPr/>
          <p:nvPr/>
        </p:nvSpPr>
        <p:spPr>
          <a:xfrm>
            <a:off x="6629400" y="205740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order assignment</a:t>
            </a:r>
            <a:endParaRPr lang="en-US" sz="1350" dirty="0"/>
          </a:p>
        </p:txBody>
      </p:sp>
      <p:sp>
        <p:nvSpPr>
          <p:cNvPr id="27" name="Dot27"/>
          <p:cNvSpPr/>
          <p:nvPr/>
        </p:nvSpPr>
        <p:spPr>
          <a:xfrm>
            <a:off x="6400800" y="2880360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8" name="BenefitText28"/>
          <p:cNvSpPr/>
          <p:nvPr/>
        </p:nvSpPr>
        <p:spPr>
          <a:xfrm>
            <a:off x="6629400" y="265176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fill rate</a:t>
            </a:r>
            <a:endParaRPr lang="en-US" sz="1350" dirty="0"/>
          </a:p>
        </p:txBody>
      </p:sp>
      <p:sp>
        <p:nvSpPr>
          <p:cNvPr id="29" name="Dot29"/>
          <p:cNvSpPr/>
          <p:nvPr/>
        </p:nvSpPr>
        <p:spPr>
          <a:xfrm>
            <a:off x="6400800" y="3474720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0" name="BenefitText30"/>
          <p:cNvSpPr/>
          <p:nvPr/>
        </p:nvSpPr>
        <p:spPr>
          <a:xfrm>
            <a:off x="6629400" y="324612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logistics cost</a:t>
            </a:r>
            <a:endParaRPr lang="en-US" sz="1350" dirty="0"/>
          </a:p>
        </p:txBody>
      </p:sp>
      <p:sp>
        <p:nvSpPr>
          <p:cNvPr id="31" name="Dot31"/>
          <p:cNvSpPr/>
          <p:nvPr/>
        </p:nvSpPr>
        <p:spPr>
          <a:xfrm>
            <a:off x="6400800" y="4069080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2" name="BenefitText32"/>
          <p:cNvSpPr/>
          <p:nvPr/>
        </p:nvSpPr>
        <p:spPr>
          <a:xfrm>
            <a:off x="6629400" y="384048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warehouse utilization</a:t>
            </a:r>
            <a:endParaRPr lang="en-US" sz="1350" dirty="0"/>
          </a:p>
        </p:txBody>
      </p:sp>
      <p:sp>
        <p:nvSpPr>
          <p:cNvPr id="33" name="Dot33"/>
          <p:cNvSpPr/>
          <p:nvPr/>
        </p:nvSpPr>
        <p:spPr>
          <a:xfrm>
            <a:off x="6400800" y="4663440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4" name="BenefitText34"/>
          <p:cNvSpPr/>
          <p:nvPr/>
        </p:nvSpPr>
        <p:spPr>
          <a:xfrm>
            <a:off x="6629400" y="443484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</a:t>
            </a:r>
            <a:endParaRPr lang="en-US" sz="1350" dirty="0"/>
          </a:p>
        </p:txBody>
      </p:sp>
      <p:sp>
        <p:nvSpPr>
          <p:cNvPr id="35" name="Dot35"/>
          <p:cNvSpPr/>
          <p:nvPr/>
        </p:nvSpPr>
        <p:spPr>
          <a:xfrm>
            <a:off x="6400800" y="5257800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6" name="BenefitText36"/>
          <p:cNvSpPr/>
          <p:nvPr/>
        </p:nvSpPr>
        <p:spPr>
          <a:xfrm>
            <a:off x="6629400" y="502920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planner decisions</a:t>
            </a:r>
            <a:endParaRPr lang="en-US" sz="1350" dirty="0"/>
          </a:p>
        </p:txBody>
      </p:sp>
      <p:sp>
        <p:nvSpPr>
          <p:cNvPr id="37" name="FooterLeft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38" name="FooterRight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Headline Result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25,193-order dataset — solved exactly by OR-Tools in under 3 seconds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$7.5M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cost cut, same revenue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99.54%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93192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rate (from 98.92%)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18,899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0" y="2377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redirected to a better plant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548640" y="2880360"/>
          <a:ext cx="66751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2880360"/>
            <a:ext cx="4114800" cy="33832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108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0" y="35204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barely needs to change — today's process is already close to revenue-optimal. The real opportunity is shipping efficiency, not accepting more orders.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0" y="48463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optimizing hard for shipping cost concentrates volume into fewer, cheaper-to-ship-from plants — utilization evenness drops as a result. Cost and network balance are different goals.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 Benchmark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4-order batch (Plant 5385 / SKU 12386067, capacity 8 units) — same problem, three solvers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74904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6583680" cy="0"/>
          </a:xfrm>
          <a:prstGeom prst="line">
            <a:avLst/>
          </a:prstGeom>
          <a:noFill/>
          <a:ln w="12700">
            <a:solidFill>
              <a:srgbClr val="D5DC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(brute-force)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4904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378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898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49040" y="28986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378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0" y="28986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(Qiskit simulator)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49040" y="3401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0416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is ~165,000× faster here — expected for a problem this structured, not a quantum shortfall.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98080" y="1874520"/>
            <a:ext cx="4114800" cy="4434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RELIABILITY, NOT ONE LUCKY RUN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560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7772400" y="35204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rate — 6 of 6 independent runs reached the exact optimum, from randomized starting points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0" y="4572000"/>
            <a:ext cx="3291840" cy="0"/>
          </a:xfrm>
          <a:prstGeom prst="line">
            <a:avLst/>
          </a:prstGeom>
          <a:noFill/>
          <a:ln w="12700">
            <a:solidFill>
              <a:srgbClr val="2B3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0" y="47548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deterministic from a fixed starting point — a single run proves nothing about reliable convergence. This is a real statistic, not a favorable one-off.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Title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200" dirty="0"/>
          </a:p>
        </p:txBody>
      </p:sp>
      <p:sp>
        <p:nvSpPr>
          <p:cNvPr id="3" name="Text Subtitle"/>
          <p:cNvSpPr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roadmap goes next, beyond this proof of concept.</a:t>
            </a:r>
            <a:endParaRPr lang="en-US" sz="1300" dirty="0"/>
          </a:p>
        </p:txBody>
      </p:sp>
      <p:sp>
        <p:nvSpPr>
          <p:cNvPr id="4" name="Card4"/>
          <p:cNvSpPr/>
          <p:nvPr/>
        </p:nvSpPr>
        <p:spPr>
          <a:xfrm>
            <a:off x="548640" y="169164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5"/>
          <p:cNvSpPr/>
          <p:nvPr/>
        </p:nvSpPr>
        <p:spPr>
          <a:xfrm>
            <a:off x="2077720" y="18745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6" name="CardText6"/>
          <p:cNvSpPr/>
          <p:nvPr/>
        </p:nvSpPr>
        <p:spPr>
          <a:xfrm>
            <a:off x="685800" y="242316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on IBM Quantum Hardware</a:t>
            </a:r>
            <a:endParaRPr lang="en-US" sz="1300" dirty="0"/>
          </a:p>
        </p:txBody>
      </p:sp>
      <p:sp>
        <p:nvSpPr>
          <p:cNvPr id="7" name="Card7"/>
          <p:cNvSpPr/>
          <p:nvPr/>
        </p:nvSpPr>
        <p:spPr>
          <a:xfrm>
            <a:off x="4338320" y="169164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Badge8"/>
          <p:cNvSpPr/>
          <p:nvPr/>
        </p:nvSpPr>
        <p:spPr>
          <a:xfrm>
            <a:off x="5867400" y="18745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9" name="CardText9"/>
          <p:cNvSpPr/>
          <p:nvPr/>
        </p:nvSpPr>
        <p:spPr>
          <a:xfrm>
            <a:off x="4475480" y="242316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Constraint-Preserving QAOA Mixers</a:t>
            </a:r>
            <a:endParaRPr lang="en-US" sz="1300" dirty="0"/>
          </a:p>
        </p:txBody>
      </p:sp>
      <p:sp>
        <p:nvSpPr>
          <p:cNvPr id="10" name="Card10"/>
          <p:cNvSpPr/>
          <p:nvPr/>
        </p:nvSpPr>
        <p:spPr>
          <a:xfrm>
            <a:off x="8128000" y="169164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Badge11"/>
          <p:cNvSpPr/>
          <p:nvPr/>
        </p:nvSpPr>
        <p:spPr>
          <a:xfrm>
            <a:off x="9657080" y="18745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12" name="CardText12"/>
          <p:cNvSpPr/>
          <p:nvPr/>
        </p:nvSpPr>
        <p:spPr>
          <a:xfrm>
            <a:off x="8265160" y="242316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Multi-Plant Split Fulfillment</a:t>
            </a:r>
            <a:endParaRPr lang="en-US" sz="1300" dirty="0"/>
          </a:p>
        </p:txBody>
      </p:sp>
      <p:sp>
        <p:nvSpPr>
          <p:cNvPr id="13" name="Card13"/>
          <p:cNvSpPr/>
          <p:nvPr/>
        </p:nvSpPr>
        <p:spPr>
          <a:xfrm>
            <a:off x="548640" y="335280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Badge14"/>
          <p:cNvSpPr/>
          <p:nvPr/>
        </p:nvSpPr>
        <p:spPr>
          <a:xfrm>
            <a:off x="2077720" y="353568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15" name="CardText15"/>
          <p:cNvSpPr/>
          <p:nvPr/>
        </p:nvSpPr>
        <p:spPr>
          <a:xfrm>
            <a:off x="685800" y="408432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Forecasting</a:t>
            </a:r>
            <a:endParaRPr lang="en-US" sz="1300" dirty="0"/>
          </a:p>
        </p:txBody>
      </p:sp>
      <p:sp>
        <p:nvSpPr>
          <p:cNvPr id="16" name="Card16"/>
          <p:cNvSpPr/>
          <p:nvPr/>
        </p:nvSpPr>
        <p:spPr>
          <a:xfrm>
            <a:off x="4338320" y="335280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Badge17"/>
          <p:cNvSpPr/>
          <p:nvPr/>
        </p:nvSpPr>
        <p:spPr>
          <a:xfrm>
            <a:off x="5867400" y="353568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18" name="CardText18"/>
          <p:cNvSpPr/>
          <p:nvPr/>
        </p:nvSpPr>
        <p:spPr>
          <a:xfrm>
            <a:off x="4475480" y="408432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Inventory Prediction</a:t>
            </a:r>
            <a:endParaRPr lang="en-US" sz="1300" dirty="0"/>
          </a:p>
        </p:txBody>
      </p:sp>
      <p:sp>
        <p:nvSpPr>
          <p:cNvPr id="19" name="Card19"/>
          <p:cNvSpPr/>
          <p:nvPr/>
        </p:nvSpPr>
        <p:spPr>
          <a:xfrm>
            <a:off x="8128000" y="335280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Badge20"/>
          <p:cNvSpPr/>
          <p:nvPr/>
        </p:nvSpPr>
        <p:spPr>
          <a:xfrm>
            <a:off x="9657080" y="353568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21" name="CardText21"/>
          <p:cNvSpPr/>
          <p:nvPr/>
        </p:nvSpPr>
        <p:spPr>
          <a:xfrm>
            <a:off x="8265160" y="408432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 Optimization</a:t>
            </a:r>
            <a:endParaRPr lang="en-US" sz="1300" dirty="0"/>
          </a:p>
        </p:txBody>
      </p:sp>
      <p:sp>
        <p:nvSpPr>
          <p:cNvPr id="22" name="Card22"/>
          <p:cNvSpPr/>
          <p:nvPr/>
        </p:nvSpPr>
        <p:spPr>
          <a:xfrm>
            <a:off x="548640" y="501396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Badge23"/>
          <p:cNvSpPr/>
          <p:nvPr/>
        </p:nvSpPr>
        <p:spPr>
          <a:xfrm>
            <a:off x="2077720" y="519684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7</a:t>
            </a:r>
          </a:p>
        </p:txBody>
      </p:sp>
      <p:sp>
        <p:nvSpPr>
          <p:cNvPr id="24" name="CardText24"/>
          <p:cNvSpPr/>
          <p:nvPr/>
        </p:nvSpPr>
        <p:spPr>
          <a:xfrm>
            <a:off x="685800" y="574548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/ ERP Integration</a:t>
            </a:r>
            <a:endParaRPr lang="en-US" sz="1300" dirty="0"/>
          </a:p>
        </p:txBody>
      </p:sp>
      <p:sp>
        <p:nvSpPr>
          <p:cNvPr id="25" name="Card25"/>
          <p:cNvSpPr/>
          <p:nvPr/>
        </p:nvSpPr>
        <p:spPr>
          <a:xfrm>
            <a:off x="4338320" y="501396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Badge26"/>
          <p:cNvSpPr/>
          <p:nvPr/>
        </p:nvSpPr>
        <p:spPr>
          <a:xfrm>
            <a:off x="5867400" y="519684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8</a:t>
            </a:r>
          </a:p>
        </p:txBody>
      </p:sp>
      <p:sp>
        <p:nvSpPr>
          <p:cNvPr id="27" name="CardText27"/>
          <p:cNvSpPr/>
          <p:nvPr/>
        </p:nvSpPr>
        <p:spPr>
          <a:xfrm>
            <a:off x="4475480" y="574548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Carbon-aware Optimization</a:t>
            </a:r>
            <a:endParaRPr lang="en-US" sz="1300" dirty="0"/>
          </a:p>
        </p:txBody>
      </p:sp>
      <p:sp>
        <p:nvSpPr>
          <p:cNvPr id="28" name="Card28"/>
          <p:cNvSpPr/>
          <p:nvPr/>
        </p:nvSpPr>
        <p:spPr>
          <a:xfrm>
            <a:off x="8128000" y="5013960"/>
            <a:ext cx="3515360" cy="1386840"/>
          </a:xfrm>
          <a:prstGeom prst="roundRect">
            <a:avLst>
              <a:gd name="adj" fmla="val 6000"/>
            </a:avLst>
          </a:prstGeom>
          <a:solidFill>
            <a:srgbClr val="1621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Badge29"/>
          <p:cNvSpPr/>
          <p:nvPr/>
        </p:nvSpPr>
        <p:spPr>
          <a:xfrm>
            <a:off x="9657080" y="519684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</a:rPr>
              <a:t>9</a:t>
            </a:r>
          </a:p>
        </p:txBody>
      </p:sp>
      <p:sp>
        <p:nvSpPr>
          <p:cNvPr id="30" name="CardText30"/>
          <p:cNvSpPr/>
          <p:nvPr/>
        </p:nvSpPr>
        <p:spPr>
          <a:xfrm>
            <a:off x="8265160" y="5745480"/>
            <a:ext cx="324104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 Updates</a:t>
            </a:r>
            <a:endParaRPr lang="en-US" sz="1300" dirty="0"/>
          </a:p>
        </p:txBody>
      </p:sp>
      <p:sp>
        <p:nvSpPr>
          <p:cNvPr id="31" name="FooterLeft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32" name="FooterRight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83664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556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covers accept/reject only — not yet the full multi-plant reassignment model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60904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3288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runs on a noiseless simulator; no real quantum hardware run yet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438144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101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Split-fulfillment (one order across two plants) is out of scope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215384"/>
            <a:ext cx="91440" cy="914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8736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data-quality finding: the dataset's own existing assignment already violates its own capacity by 199 units in one case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0936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1883664"/>
            <a:ext cx="91440" cy="91440"/>
          </a:xfrm>
          <a:prstGeom prst="ellipse">
            <a:avLst/>
          </a:prstGeom>
          <a:solidFill>
            <a:srgbClr val="5BA8FF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7556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real IBM Quantum hardware — migration path scoped, awaiting account access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660904"/>
            <a:ext cx="91440" cy="91440"/>
          </a:xfrm>
          <a:prstGeom prst="ellipse">
            <a:avLst/>
          </a:prstGeom>
          <a:solidFill>
            <a:srgbClr val="5BA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253288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QAOA to the reassignment model on a reduced candidate-plant subset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438144"/>
            <a:ext cx="91440" cy="91440"/>
          </a:xfrm>
          <a:prstGeom prst="ellipse">
            <a:avLst/>
          </a:prstGeom>
          <a:solidFill>
            <a:srgbClr val="5BA8FF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3101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constraint-preserving QAOA mixers to remove slack-variable overhead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4215384"/>
            <a:ext cx="91440" cy="91440"/>
          </a:xfrm>
          <a:prstGeom prst="ellipse">
            <a:avLst/>
          </a:prstGeom>
          <a:solidFill>
            <a:srgbClr val="5BA8FF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0873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multi-plant split-fulfillment for partially-filled orders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212080"/>
            <a:ext cx="11064240" cy="0"/>
          </a:xfrm>
          <a:prstGeom prst="line">
            <a:avLst/>
          </a:prstGeom>
          <a:noFill/>
          <a:ln w="12700">
            <a:solidFill>
              <a:srgbClr val="2B3A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project is built to be honest about what quantum computing can and can't do here today — not to oversell a result.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Title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Contributions</a:t>
            </a:r>
            <a:endParaRPr lang="en-US" sz="3200" dirty="0"/>
          </a:p>
        </p:txBody>
      </p:sp>
      <p:sp>
        <p:nvSpPr>
          <p:cNvPr id="3" name="Text Subtitle"/>
          <p:cNvSpPr/>
          <p:nvPr/>
        </p:nvSpPr>
        <p:spPr>
          <a:xfrm>
            <a:off x="548640" y="1051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45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workstreams, one hybrid pipeline — from raw orders to a recommendation a planner can trust.</a:t>
            </a:r>
            <a:endParaRPr lang="en-US" sz="1400" dirty="0"/>
          </a:p>
        </p:txBody>
      </p:sp>
      <p:sp>
        <p:nvSpPr>
          <p:cNvPr id="4" name="Card4"/>
          <p:cNvSpPr/>
          <p:nvPr/>
        </p:nvSpPr>
        <p:spPr>
          <a:xfrm>
            <a:off x="548640" y="1874520"/>
            <a:ext cx="3520440" cy="329184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5" name="Avatar5"/>
          <p:cNvSpPr/>
          <p:nvPr/>
        </p:nvSpPr>
        <p:spPr>
          <a:xfrm>
            <a:off x="1897380" y="2148840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213E"/>
                </a:solidFill>
                <a:latin typeface="Cambria" pitchFamily="34" charset="0"/>
              </a:rPr>
              <a:t>PK</a:t>
            </a:r>
          </a:p>
        </p:txBody>
      </p:sp>
      <p:sp>
        <p:nvSpPr>
          <p:cNvPr id="6" name="Name6"/>
          <p:cNvSpPr/>
          <p:nvPr/>
        </p:nvSpPr>
        <p:spPr>
          <a:xfrm>
            <a:off x="777240" y="32004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Pavan Kumar</a:t>
            </a:r>
            <a:endParaRPr lang="en-US" sz="1600" dirty="0"/>
          </a:p>
        </p:txBody>
      </p:sp>
      <p:sp>
        <p:nvSpPr>
          <p:cNvPr id="7" name="Role7"/>
          <p:cNvSpPr/>
          <p:nvPr/>
        </p:nvSpPr>
        <p:spPr>
          <a:xfrm>
            <a:off x="822960" y="3749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Development &amp; Data Visualization</a:t>
            </a:r>
            <a:endParaRPr lang="en-US" sz="1200" dirty="0"/>
          </a:p>
          <a:p>
            <a:pPr algn="ctr"/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IN" sz="1050" dirty="0" err="1"/>
              <a:t>Streamlit</a:t>
            </a:r>
            <a:r>
              <a:rPr lang="en-IN" sz="1050" dirty="0"/>
              <a:t> Dashboard • </a:t>
            </a:r>
            <a:r>
              <a:rPr lang="en-IN" sz="1050" dirty="0" err="1"/>
              <a:t>Plotly</a:t>
            </a:r>
            <a:r>
              <a:rPr lang="en-IN" sz="1050" dirty="0"/>
              <a:t> Analytics • KPI Dashboard • UI Integration </a:t>
            </a: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8" name="Card8"/>
          <p:cNvSpPr/>
          <p:nvPr/>
        </p:nvSpPr>
        <p:spPr>
          <a:xfrm>
            <a:off x="4343400" y="1874520"/>
            <a:ext cx="3520440" cy="329184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9" name="Avatar9"/>
          <p:cNvSpPr/>
          <p:nvPr/>
        </p:nvSpPr>
        <p:spPr>
          <a:xfrm>
            <a:off x="5692140" y="2148840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213E"/>
                </a:solidFill>
                <a:latin typeface="Cambria" pitchFamily="34" charset="0"/>
              </a:rPr>
              <a:t>BF</a:t>
            </a:r>
          </a:p>
        </p:txBody>
      </p:sp>
      <p:sp>
        <p:nvSpPr>
          <p:cNvPr id="10" name="Name10"/>
          <p:cNvSpPr/>
          <p:nvPr/>
        </p:nvSpPr>
        <p:spPr>
          <a:xfrm>
            <a:off x="4572000" y="32004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Bushra Faizi Shaik</a:t>
            </a:r>
            <a:endParaRPr lang="en-US" sz="1600" dirty="0"/>
          </a:p>
        </p:txBody>
      </p:sp>
      <p:sp>
        <p:nvSpPr>
          <p:cNvPr id="11" name="Role11"/>
          <p:cNvSpPr/>
          <p:nvPr/>
        </p:nvSpPr>
        <p:spPr>
          <a:xfrm>
            <a:off x="4617720" y="3749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Optimization &amp; Data Processing</a:t>
            </a:r>
            <a:endParaRPr lang="en-US" sz="1200" dirty="0"/>
          </a:p>
          <a:p>
            <a:pPr algn="ctr"/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IN" sz="1050" dirty="0"/>
              <a:t>Data Processing • Baseline • Greedy Algorithm • OR-Tools Optimization • Benchmarking</a:t>
            </a: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12" name="Card12"/>
          <p:cNvSpPr/>
          <p:nvPr/>
        </p:nvSpPr>
        <p:spPr>
          <a:xfrm>
            <a:off x="8138160" y="1874520"/>
            <a:ext cx="3520440" cy="329184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13" name="Avatar13"/>
          <p:cNvSpPr/>
          <p:nvPr/>
        </p:nvSpPr>
        <p:spPr>
          <a:xfrm>
            <a:off x="9486900" y="2148840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213E"/>
                </a:solidFill>
                <a:latin typeface="Cambria" pitchFamily="34" charset="0"/>
              </a:rPr>
              <a:t>TS</a:t>
            </a:r>
          </a:p>
        </p:txBody>
      </p:sp>
      <p:sp>
        <p:nvSpPr>
          <p:cNvPr id="14" name="Name14"/>
          <p:cNvSpPr/>
          <p:nvPr/>
        </p:nvSpPr>
        <p:spPr>
          <a:xfrm>
            <a:off x="8366760" y="32004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Thammandra Saketh Ram</a:t>
            </a:r>
            <a:endParaRPr lang="en-US" sz="1600" dirty="0"/>
          </a:p>
        </p:txBody>
      </p:sp>
      <p:sp>
        <p:nvSpPr>
          <p:cNvPr id="15" name="Role15"/>
          <p:cNvSpPr/>
          <p:nvPr/>
        </p:nvSpPr>
        <p:spPr>
          <a:xfrm>
            <a:off x="8412480" y="3749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Optimization, Documentation &amp; Testing</a:t>
            </a:r>
            <a:endParaRPr lang="en-US" sz="1200" dirty="0"/>
          </a:p>
          <a:p>
            <a:pPr algn="ctr"/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IN" sz="1050" dirty="0"/>
              <a:t>Quantum Research • QAOA Implementation • Benchmarking • Documentation &amp; Validation</a:t>
            </a: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16" name="NoteStrip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17" name="NoteText"/>
          <p:cNvSpPr/>
          <p:nvPr/>
        </p:nvSpPr>
        <p:spPr>
          <a:xfrm>
            <a:off x="822960" y="55595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WISER Global Quantum+AI Program 2026 — a hybrid classical-quantum approach to Nestlé's distributed order management, from data pipeline to planner-facing recommendation.</a:t>
            </a:r>
            <a:endParaRPr lang="en-US" sz="1200" dirty="0"/>
          </a:p>
        </p:txBody>
      </p:sp>
      <p:sp>
        <p:nvSpPr>
          <p:cNvPr id="18" name="FooterLeft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Nestlé DOM — WISER Global Quantum+AI Program 2026</a:t>
            </a:r>
            <a:endParaRPr lang="en-US" sz="900" dirty="0"/>
          </a:p>
        </p:txBody>
      </p:sp>
      <p:sp>
        <p:nvSpPr>
          <p:cNvPr id="19" name="FooterRight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974</Words>
  <Application>Microsoft Office PowerPoint</Application>
  <PresentationFormat>Widescreen</PresentationFormat>
  <Paragraphs>161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Saketh Ram</cp:lastModifiedBy>
  <cp:revision>2</cp:revision>
  <dcterms:created xsi:type="dcterms:W3CDTF">2026-08-05T18:07:32Z</dcterms:created>
  <dcterms:modified xsi:type="dcterms:W3CDTF">2026-08-05T18:37:49Z</dcterms:modified>
</cp:coreProperties>
</file>