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13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6213E"/>
                </a:solidFill>
                <a:latin typeface="Arial"/>
              </a:rPr>
              <a:t>Shipping Cost by Method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Shipping Cost ($M)</c:v>
                </c:pt>
              </c:strCache>
            </c:strRef>
          </c:tx>
          <c:spPr>
            <a:solidFill>
              <a:srgbClr val="16213E"/>
            </a:solidFill>
            <a:effectLst/>
          </c:spPr>
          <c:invertIfNegative val="0"/>
          <c:dLbls>
            <c:numFmt formatCode="&quot;$&quot;0.0&quot;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13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Baseline
(no reassignment)</c:v>
                  </c:pt>
                  <c:pt idx="1">
                    <c:v>Greedy
Reassignment</c:v>
                  </c:pt>
                  <c:pt idx="2">
                    <c:v>OR-Tools
Reassignment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61.35</c:v>
                </c:pt>
                <c:pt idx="1">
                  <c:v>61.67</c:v>
                </c:pt>
                <c:pt idx="2">
                  <c:v>53.81</c:v>
                </c:pt>
              </c:numCache>
            </c:numRef>
          </c:val>
        </c:ser>
        <c:dLbls>
          <c:numFmt formatCode="&quot;$&quot;0.0&quot;M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621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0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0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57200"/>
            <a:ext cx="2194560" cy="2194560"/>
          </a:xfrm>
          <a:prstGeom prst="ellipse">
            <a:avLst/>
          </a:prstGeom>
          <a:ln w="19050">
            <a:solidFill>
              <a:srgbClr val="F2A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95560" y="960120"/>
            <a:ext cx="1188720" cy="1188720"/>
          </a:xfrm>
          <a:prstGeom prst="ellipse">
            <a:avLst/>
          </a:prstGeom>
          <a:ln w="1270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1371600"/>
            <a:ext cx="365760" cy="36576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286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Classical + Quantum Optimization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Redirecting orders across plants for measurable revenue and shipping-cost gains — benchmarked against a real quantum implementation.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892040"/>
            <a:ext cx="2926080" cy="0"/>
          </a:xfrm>
          <a:prstGeom prst="line">
            <a:avLst/>
          </a:prstGeom>
          <a:noFill/>
          <a:ln w="12700">
            <a:solidFill>
              <a:srgbClr val="2B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074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Quantum+AI Program 2026 — Nestlé Challenge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5440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Anil Naik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plant can't fully serve an order today, it's simply rejected — even if another plant carries the same product with stock to spare.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457200" cy="45720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202996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order/plant pairing is a decision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240487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plant inventory couples decisions together — accepting one order can block another.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32644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 of SKUs sit at multiple plants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363931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redirection is possible for the large majority of the order book, not an edge case.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457200" cy="45720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449884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method is assumed best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487375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Classical, heuristic, and quantum approaches are benchmarked against each other, not asserted.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35240" y="1051560"/>
            <a:ext cx="3977640" cy="507492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17" name="Text 15"/>
          <p:cNvSpPr/>
          <p:nvPr/>
        </p:nvSpPr>
        <p:spPr>
          <a:xfrm>
            <a:off x="800100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01000" y="16916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25,193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8001000" y="2468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order-lines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01000" y="27889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001000" y="3566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01000" y="38862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1,110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8001000" y="4663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SKUs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01000" y="49834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89%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8001000" y="5760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SKUs carried at 2+ plants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DOM — WISER Global Quantum+AI Program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strategies, benchmarked on identical objective functions and feasibility checks — never compared out of scope.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329184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031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assignment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redirection — each order tries only its own recorded plant. The reference point.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874520"/>
            <a:ext cx="3520440" cy="329184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21031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17720" y="24231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Greedy + OR-Tools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17720" y="31089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heuristic, and an exact CP-SAT solver reassigning orders to any real candidate plant.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874520"/>
            <a:ext cx="3520440" cy="32918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21031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0" y="24231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QAOA (Qiskit)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412480" y="31089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assignment problem as a QUBO, solved on a real (small) batch and checked for feasibility.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440680"/>
            <a:ext cx="11064240" cy="68580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55955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matched-scale comparisons: reassignment (Baseline/Greedy/OR-Tools) across the FULL 25,193-order dataset, and quantum (Exact/Greedy/QAOA) on one small real batch all three can solve.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DOM — WISER Global Quantum+AI Program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Result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25,193-order dataset — solved exactly by OR-Tools in under 3 seconds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$7.5M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cost cut, same revenue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931920" y="16002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99.54%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931920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rate (from 98.92%)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0" y="16002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18,899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315200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redirected to a better plant</a:t>
            </a:r>
            <a:endParaRPr lang="en-US" sz="12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48640" y="2880360"/>
          <a:ext cx="66751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7498080" y="2880360"/>
            <a:ext cx="4114800" cy="33832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0" y="3108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0" y="35204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barely needs to change — today's process is already close to revenue-optimal. The real opportunity is shipping efficiency, not accepting more orders.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772400" y="484632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optimizing hard for shipping cost concentrates volume into fewer, cheaper-to-ship-from plants — utilization evenness drops as a result. Cost and network balance are different goals.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DOM — WISER Global Quantum+AI Program 2026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Benchmark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4-order batch (Plant 5385 / SKU 12386067, capacity 8 units) — same problem, three solvers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749040" y="1874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0" y="1874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6583680" cy="0"/>
          </a:xfrm>
          <a:prstGeom prst="line">
            <a:avLst/>
          </a:prstGeom>
          <a:noFill/>
          <a:ln w="12700">
            <a:solidFill>
              <a:srgbClr val="D5DC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957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(brute-force)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49040" y="23957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378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0" y="23957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0.0002s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8986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heuristic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49040" y="28986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378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28986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0.0000s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4015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 (Qiskit simulator)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49040" y="34015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378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0" y="34015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04164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is ~165,000× faster here — expected for a problem this structured, not a quantum shortfall.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98080" y="1874520"/>
            <a:ext cx="4114800" cy="44348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2103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RELIABILITY, NOT ONE LUCKY RUN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0" y="25603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7772400" y="35204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— 6 of 6 independent runs reached the exact optimum, from randomized starting points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72400" y="4572000"/>
            <a:ext cx="3291840" cy="0"/>
          </a:xfrm>
          <a:prstGeom prst="line">
            <a:avLst/>
          </a:prstGeom>
          <a:noFill/>
          <a:ln w="12700">
            <a:solidFill>
              <a:srgbClr val="2B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0" y="47548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 is deterministic from a fixed starting point — a single run proves nothing about reliable convergence. This is a real statistic, not a favorable one-off.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DOM — WISER Global Quantum+AI Program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Next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83664"/>
            <a:ext cx="91440" cy="9144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5564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covers accept/reject only — not yet the full multi-plant reassignment model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660904"/>
            <a:ext cx="91440" cy="9144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53288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 runs on a noiseless simulator; no real quantum hardware run yet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438144"/>
            <a:ext cx="91440" cy="9144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31012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Split-fulfillment (one order across two plants) is out of scope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215384"/>
            <a:ext cx="91440" cy="9144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08736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data-quality finding: the dataset's own existing assignment already violates its own capacity by 199 units in one case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09360" y="1371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883664"/>
            <a:ext cx="91440" cy="91440"/>
          </a:xfrm>
          <a:prstGeom prst="ellipse">
            <a:avLst/>
          </a:prstGeom>
          <a:solidFill>
            <a:srgbClr val="5BA8FF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175564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real IBM Quantum hardware — migration path scoped, awaiting account access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09360" y="2660904"/>
            <a:ext cx="91440" cy="91440"/>
          </a:xfrm>
          <a:prstGeom prst="ellipse">
            <a:avLst/>
          </a:prstGeom>
          <a:solidFill>
            <a:srgbClr val="5BA8FF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253288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QAOA to the reassignment model on a reduced candidate-plant subset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09360" y="3438144"/>
            <a:ext cx="91440" cy="91440"/>
          </a:xfrm>
          <a:prstGeom prst="ellipse">
            <a:avLst/>
          </a:prstGeom>
          <a:solidFill>
            <a:srgbClr val="5BA8FF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331012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constraint-preserving QAOA mixers to remove slack-variable overhead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4215384"/>
            <a:ext cx="91440" cy="91440"/>
          </a:xfrm>
          <a:prstGeom prst="ellipse">
            <a:avLst/>
          </a:prstGeom>
          <a:solidFill>
            <a:srgbClr val="5BA8FF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408736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multi-plant split-fulfillment for partially-filled orders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212080"/>
            <a:ext cx="11064240" cy="0"/>
          </a:xfrm>
          <a:prstGeom prst="line">
            <a:avLst/>
          </a:prstGeom>
          <a:noFill/>
          <a:ln w="12700">
            <a:solidFill>
              <a:srgbClr val="2B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project is built to be honest about what quantum computing can and can't do here today — not to oversell a result.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DOM — WISER Global Quantum+AI Program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2026-08-04T06:00:11Z</dcterms:created>
  <dcterms:modified xsi:type="dcterms:W3CDTF">2026-08-04T06:00:11Z</dcterms:modified>
</cp:coreProperties>
</file>